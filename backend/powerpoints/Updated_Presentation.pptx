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56" r:id="rId5"/>
    <p:sldId id="257" r:id="rId6"/>
    <p:sldId id="258" r:id="rId7"/>
    <p:sldId id="259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0" d="100"/>
          <a:sy n="70" d="100"/>
        </p:scale>
        <p:origin x="536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FD1DD-AFEA-951C-D747-7CEF5201B3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F43448-D460-BDED-9CEB-E809A78156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820F4B-AA88-06CB-05B8-82FDF49C4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FA832E-6564-6D59-C737-0CFDA62D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BF1F475-8C03-65A0-D15C-003EC9C5BF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36616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5BD0FD-D969-D32D-3134-359DE30C71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13A354-4E68-3C71-28DE-5B4BBECD4C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723E0D-235D-36CB-9FAC-BE1641F92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FF42E8-5B6E-6FAF-F6BC-A15A5F3A1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8A4581-C2CD-E25C-1E34-B5DF126518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7523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A41E9D-1AAB-CD98-E8FE-6C74D850C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176916-7123-C8B0-13E4-EADBE3D24A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79D994-2587-EF37-2EB2-CA979F9D1C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0B5C80-6E38-024D-3A88-3E628C90A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FD088F-FE8D-4AF8-1F63-12EFE98488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6302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11C1B-710C-2A32-E538-074780404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04B10-37A0-7346-0064-9B01765290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8D5304-6B9E-C3C7-DE28-7B3BD61343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C2ECD8-7D18-18EB-176B-ED7116025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2AD38C-2202-1ED2-1DE5-4F3F8CEC9F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3E558C-DE1B-465C-6EC2-AD0A9355FA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19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E7AB68-7E8E-3DE3-F772-95BB1DDE63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BA10F8-81D2-8875-54E6-EB10D644CA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C5A0CC-DA29-8C96-9266-C69E121CC1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B16B86-AAAC-BC82-8484-8EB394F733C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C173F59-0414-E9BE-6218-553A3733814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19A4A6-FF4C-18EB-8CF0-DB249D479A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C93279-067A-4DE3-6735-063BE7291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3D25BB5-C9B3-A74C-6ED6-1F6DC28EA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4717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060652-9B23-609B-62C9-D7AFB4D98C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4C6627-AFFE-E112-AC7F-CC8B08CF3B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DB78ED0-BF91-ECD8-10CB-2FF5C04D01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24952FE-0AEF-E37E-0040-93F514FEA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2396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E1FE428-B159-A598-4CC8-B0A2CC2C7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39AC17-68CF-07EC-A674-3A579CF06A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323F264-57DE-A75C-8BEE-8A6807DCC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479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51E582-25B1-46A1-6297-38F0382E8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9E812E-3680-F095-25E6-3DB642E20D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15B502-678A-AA7D-50E6-6B025E200E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C6C7EE1-745D-EDDE-115F-685839813D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156CDA7-3B5A-590A-1077-ECAE7C0B86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AA5AEC-4883-5639-9906-A28C61E178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7640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24001-04BD-A434-9E59-C07E25E35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BDDFD6D-147C-21F3-344F-2E02CFF89C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F29775-0FFA-EF09-FF06-B271834EAC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352F1F5-8DEF-865F-F0B9-D8D4D7895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74B4C5-872C-1739-DF57-6A44B8BF6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1483614-8F63-36AE-997E-902FE8E73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7264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6C47E-4CB0-CC9B-E3DF-62ADC0DD5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0D2E76-BFC4-C2D9-3CEF-4B677D13482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4C9E89-FEDE-7D06-FBA7-DFE5A1554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CA6E43-34D8-AB38-53D5-8B8419FC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C34D75-CE16-00C5-39D8-1F055D912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1559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09732A9-282C-F1AB-944A-04C9598D3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3978922-B2C1-9F69-88B5-8755A73FF7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043CA1-C637-07F0-6297-C5B7FCDF7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58A18C-E5D8-8211-99FE-139D836A37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81155-3DBC-57C8-483F-6BE98A57D9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849764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CA6372-EA15-8BD6-E4C6-F3460ABBA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200D2-F0FD-B846-7864-300BCB0045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9B0467-6C14-A95A-AAB6-EA92D802D2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2145E19-DDBD-4B6D-97C7-83C7C0F78B3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5B6473-6B9E-1C6E-F2C3-E431C882C8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91789-8C3B-EFBE-E526-E4CEC85282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74E2EC2-72C9-439C-A0E2-4FD29CF6E4F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7561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28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9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-slide">
            <a:extLst>
              <a:ext uri="{FF2B5EF4-FFF2-40B4-BE49-F238E27FC236}">
                <a16:creationId xmlns:a16="http://schemas.microsoft.com/office/drawing/2014/main" id="{E1B9AF0A-4626-9313-4011-364DBB4C3DF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31610" y="1096818"/>
            <a:ext cx="9725730" cy="2226769"/>
          </a:xfrm>
        </p:spPr>
        <p:txBody>
          <a:bodyPr anchor="ctr">
            <a:normAutofit/>
          </a:bodyPr>
          <a:lstStyle/>
          <a:p>
            <a:r>
              <a:rPr lang="en-US" dirty="0">
                <a:solidFill>
                  <a:schemeClr val="bg1"/>
                </a:solidFill>
                <a:latin typeface="Eras Bold ITC" panose="020B0907030504020204" pitchFamily="34" charset="0"/>
              </a:rPr>
              <a:t>EU AI Policy</a:t>
            </a:r>
          </a:p>
        </p:txBody>
      </p:sp>
      <p:sp>
        <p:nvSpPr>
          <p:cNvPr id="3" name="company-name">
            <a:extLst>
              <a:ext uri="{FF2B5EF4-FFF2-40B4-BE49-F238E27FC236}">
                <a16:creationId xmlns:a16="http://schemas.microsoft.com/office/drawing/2014/main" id="{B42ABC87-FBB3-557A-FFEE-33F16B728AA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45836" y="5072698"/>
            <a:ext cx="4297279" cy="1059999"/>
          </a:xfrm>
        </p:spPr>
        <p:txBody>
          <a:bodyPr anchor="ctr">
            <a:normAutofit/>
          </a:bodyPr>
          <a:lstStyle/>
          <a:p>
            <a:r>
              <a:rPr lang="en-US" sz="3600" dirty="0">
                <a:solidFill>
                  <a:schemeClr val="tx2"/>
                </a:solidFill>
              </a:rPr>
              <a:t>Capgemini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7A2198-6D7E-1195-F2D5-84040F6BB56F}"/>
              </a:ext>
            </a:extLst>
          </p:cNvPr>
          <p:cNvSpPr txBox="1"/>
          <p:nvPr/>
        </p:nvSpPr>
        <p:spPr>
          <a:xfrm>
            <a:off x="2139696" y="3978063"/>
            <a:ext cx="79095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Make it Real!</a:t>
            </a:r>
          </a:p>
        </p:txBody>
      </p:sp>
    </p:spTree>
    <p:extLst>
      <p:ext uri="{BB962C8B-B14F-4D97-AF65-F5344CB8AC3E}">
        <p14:creationId xmlns:p14="http://schemas.microsoft.com/office/powerpoint/2010/main" val="38098948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wd">
                                    <p:tmPct val="15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C7D023E4-8DE1-436E-9847-ED6A4B4B04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6BE11944-ED05-4FE9-9927-06C110BB3A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1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2812508-238C-4BCD-BDD3-25C99C5CA2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7167"/>
            <a:ext cx="12188952" cy="3490956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EA98B5EE-6906-45B1-8691-D06F06B6C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3CB4D77E-DA74-4797-88E4-C7D817D315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33920AD-86C9-9AA7-FB7D-76CF9A2A2CFF}"/>
              </a:ext>
            </a:extLst>
          </p:cNvPr>
          <p:cNvCxnSpPr>
            <a:cxnSpLocks/>
          </p:cNvCxnSpPr>
          <p:nvPr/>
        </p:nvCxnSpPr>
        <p:spPr>
          <a:xfrm>
            <a:off x="5879592" y="3735338"/>
            <a:ext cx="0" cy="2894062"/>
          </a:xfrm>
          <a:prstGeom prst="line">
            <a:avLst/>
          </a:pr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sp>
        <p:nvSpPr>
          <p:cNvPr id="2" name="textbox-1">
            <a:extLst>
              <a:ext uri="{FF2B5EF4-FFF2-40B4-BE49-F238E27FC236}">
                <a16:creationId xmlns:a16="http://schemas.microsoft.com/office/drawing/2014/main" id="{76A72710-BDB6-D94E-2355-BD45B6693A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7664" y="4659735"/>
            <a:ext cx="5367316" cy="575292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High-risk systems are regulated with stringent obligations</a:t>
            </a:r>
            <a:endParaRPr lang="en-US" sz="2000" kern="1200" dirty="0">
              <a:solidFill>
                <a:schemeClr val="accent5">
                  <a:lumMod val="50000"/>
                </a:schemeClr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subtitle-1">
            <a:extLst>
              <a:ext uri="{FF2B5EF4-FFF2-40B4-BE49-F238E27FC236}">
                <a16:creationId xmlns:a16="http://schemas.microsoft.com/office/drawing/2014/main" id="{61087086-E66D-420C-BA93-D5A677338233}"/>
              </a:ext>
            </a:extLst>
          </p:cNvPr>
          <p:cNvSpPr txBox="1">
            <a:spLocks/>
          </p:cNvSpPr>
          <p:nvPr/>
        </p:nvSpPr>
        <p:spPr>
          <a:xfrm>
            <a:off x="942108" y="1166974"/>
            <a:ext cx="9725730" cy="222676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4800" u="sng" dirty="0">
                <a:solidFill>
                  <a:schemeClr val="bg1"/>
                </a:solidFill>
              </a:rPr>
              <a:t>Risk-Based Approach &amp; Roles</a:t>
            </a:r>
          </a:p>
        </p:txBody>
      </p:sp>
      <p:sp>
        <p:nvSpPr>
          <p:cNvPr id="3" name="textbox-1">
            <a:extLst>
              <a:ext uri="{FF2B5EF4-FFF2-40B4-BE49-F238E27FC236}">
                <a16:creationId xmlns:a16="http://schemas.microsoft.com/office/drawing/2014/main" id="{22C21A38-E185-7A54-6C57-4BD679C92CC6}"/>
              </a:ext>
            </a:extLst>
          </p:cNvPr>
          <p:cNvSpPr txBox="1">
            <a:spLocks/>
          </p:cNvSpPr>
          <p:nvPr/>
        </p:nvSpPr>
        <p:spPr>
          <a:xfrm>
            <a:off x="257664" y="4079030"/>
            <a:ext cx="5367316" cy="575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Unacceptable risk is prohibited (e.g., social scoring, manipulative AI)</a:t>
            </a:r>
          </a:p>
        </p:txBody>
      </p:sp>
      <p:sp>
        <p:nvSpPr>
          <p:cNvPr id="5" name="textbox-1">
            <a:extLst>
              <a:ext uri="{FF2B5EF4-FFF2-40B4-BE49-F238E27FC236}">
                <a16:creationId xmlns:a16="http://schemas.microsoft.com/office/drawing/2014/main" id="{BB71AC25-A6EF-ABB3-68C6-187939DCFBCF}"/>
              </a:ext>
            </a:extLst>
          </p:cNvPr>
          <p:cNvSpPr txBox="1">
            <a:spLocks/>
          </p:cNvSpPr>
          <p:nvPr/>
        </p:nvSpPr>
        <p:spPr>
          <a:xfrm>
            <a:off x="257664" y="5222709"/>
            <a:ext cx="5367316" cy="575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High-risk systems are regulated with stringent obligations</a:t>
            </a:r>
          </a:p>
        </p:txBody>
      </p:sp>
      <p:sp>
        <p:nvSpPr>
          <p:cNvPr id="7" name="textbox-1">
            <a:extLst>
              <a:ext uri="{FF2B5EF4-FFF2-40B4-BE49-F238E27FC236}">
                <a16:creationId xmlns:a16="http://schemas.microsoft.com/office/drawing/2014/main" id="{BA8B2E2B-AC07-AC29-C8FE-936397C2B98C}"/>
              </a:ext>
            </a:extLst>
          </p:cNvPr>
          <p:cNvSpPr txBox="1">
            <a:spLocks/>
          </p:cNvSpPr>
          <p:nvPr/>
        </p:nvSpPr>
        <p:spPr>
          <a:xfrm>
            <a:off x="6219282" y="4659735"/>
            <a:ext cx="5367316" cy="575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Deployers have obligations when using high‑risk AI</a:t>
            </a:r>
          </a:p>
        </p:txBody>
      </p:sp>
      <p:sp>
        <p:nvSpPr>
          <p:cNvPr id="11" name="textbox-1">
            <a:extLst>
              <a:ext uri="{FF2B5EF4-FFF2-40B4-BE49-F238E27FC236}">
                <a16:creationId xmlns:a16="http://schemas.microsoft.com/office/drawing/2014/main" id="{F0FAF98D-337D-0336-09E5-D98B3D4B9732}"/>
              </a:ext>
            </a:extLst>
          </p:cNvPr>
          <p:cNvSpPr txBox="1">
            <a:spLocks/>
          </p:cNvSpPr>
          <p:nvPr/>
        </p:nvSpPr>
        <p:spPr>
          <a:xfrm>
            <a:off x="6219282" y="4079030"/>
            <a:ext cx="5367316" cy="575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Providers (developers) bear most obligations for high‑risk AI</a:t>
            </a:r>
          </a:p>
        </p:txBody>
      </p:sp>
      <p:sp>
        <p:nvSpPr>
          <p:cNvPr id="15" name="textbox-1">
            <a:extLst>
              <a:ext uri="{FF2B5EF4-FFF2-40B4-BE49-F238E27FC236}">
                <a16:creationId xmlns:a16="http://schemas.microsoft.com/office/drawing/2014/main" id="{AA547312-3F22-C537-B1AB-25C1677FA58B}"/>
              </a:ext>
            </a:extLst>
          </p:cNvPr>
          <p:cNvSpPr txBox="1">
            <a:spLocks/>
          </p:cNvSpPr>
          <p:nvPr/>
        </p:nvSpPr>
        <p:spPr>
          <a:xfrm>
            <a:off x="6219282" y="5222709"/>
            <a:ext cx="5367316" cy="57529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>
                <a:solidFill>
                  <a:schemeClr val="accent5">
                    <a:lumMod val="50000"/>
                  </a:schemeClr>
                </a:solidFill>
              </a:rPr>
              <a:t>Deployers have obligations when using high‑risk AI</a:t>
            </a:r>
          </a:p>
        </p:txBody>
      </p:sp>
    </p:spTree>
    <p:extLst>
      <p:ext uri="{BB962C8B-B14F-4D97-AF65-F5344CB8AC3E}">
        <p14:creationId xmlns:p14="http://schemas.microsoft.com/office/powerpoint/2010/main" val="39478829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49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6064235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3" name="textbox-3">
            <a:extLst>
              <a:ext uri="{FF2B5EF4-FFF2-40B4-BE49-F238E27FC236}">
                <a16:creationId xmlns:a16="http://schemas.microsoft.com/office/drawing/2014/main" id="{78072162-3AD8-8433-0E61-A81907372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050" y="2434814"/>
            <a:ext cx="4924103" cy="842331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Technical documentation and information for downstream providers</a:t>
            </a:r>
          </a:p>
        </p:txBody>
      </p:sp>
      <p:sp>
        <p:nvSpPr>
          <p:cNvPr id="2" name="subtitle-2">
            <a:extLst>
              <a:ext uri="{FF2B5EF4-FFF2-40B4-BE49-F238E27FC236}">
                <a16:creationId xmlns:a16="http://schemas.microsoft.com/office/drawing/2014/main" id="{C0DF95C0-4BB1-90F8-B506-7544A9790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385" y="841249"/>
            <a:ext cx="5084063" cy="1343768"/>
          </a:xfrm>
        </p:spPr>
        <p:txBody>
          <a:bodyPr anchor="ctr">
            <a:normAutofit/>
          </a:bodyPr>
          <a:lstStyle/>
          <a:p>
            <a:r>
              <a:rPr lang="en-US" sz="4800" u="sng" dirty="0">
                <a:solidFill>
                  <a:schemeClr val="bg1"/>
                </a:solidFill>
              </a:rPr>
              <a:t>GPAI &amp; Compliance</a:t>
            </a:r>
          </a:p>
        </p:txBody>
      </p:sp>
      <p:sp>
        <p:nvSpPr>
          <p:cNvPr id="5" name="textbox-3">
            <a:extLst>
              <a:ext uri="{FF2B5EF4-FFF2-40B4-BE49-F238E27FC236}">
                <a16:creationId xmlns:a16="http://schemas.microsoft.com/office/drawing/2014/main" id="{8F9143F6-8B00-BA8F-4F12-83E2445E835A}"/>
              </a:ext>
            </a:extLst>
          </p:cNvPr>
          <p:cNvSpPr txBox="1">
            <a:spLocks/>
          </p:cNvSpPr>
          <p:nvPr/>
        </p:nvSpPr>
        <p:spPr>
          <a:xfrm>
            <a:off x="613015" y="3368585"/>
            <a:ext cx="4924103" cy="842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Copyright compliance and training‑data summary publication</a:t>
            </a:r>
          </a:p>
        </p:txBody>
      </p:sp>
      <p:sp>
        <p:nvSpPr>
          <p:cNvPr id="6" name="textbox-3">
            <a:extLst>
              <a:ext uri="{FF2B5EF4-FFF2-40B4-BE49-F238E27FC236}">
                <a16:creationId xmlns:a16="http://schemas.microsoft.com/office/drawing/2014/main" id="{77BF4BC0-5AE6-D435-B379-F23CD27C00C3}"/>
              </a:ext>
            </a:extLst>
          </p:cNvPr>
          <p:cNvSpPr txBox="1">
            <a:spLocks/>
          </p:cNvSpPr>
          <p:nvPr/>
        </p:nvSpPr>
        <p:spPr>
          <a:xfrm>
            <a:off x="573050" y="4424347"/>
            <a:ext cx="4924103" cy="842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Additional duties (evaluations, incident reporting, cybersecurity) for systemic models</a:t>
            </a:r>
          </a:p>
        </p:txBody>
      </p:sp>
      <p:graphicFrame>
        <p:nvGraphicFramePr>
          <p:cNvPr id="7" name="Table-1">
            <a:extLst>
              <a:ext uri="{FF2B5EF4-FFF2-40B4-BE49-F238E27FC236}">
                <a16:creationId xmlns:a16="http://schemas.microsoft.com/office/drawing/2014/main" id="{338D352C-AACD-F2C2-07E5-FEBEB58F8E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7200080"/>
              </p:ext>
            </p:extLst>
          </p:nvPr>
        </p:nvGraphicFramePr>
        <p:xfrm>
          <a:off x="6463450" y="539496"/>
          <a:ext cx="5286590" cy="5961892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86590">
                  <a:extLst>
                    <a:ext uri="{9D8B030D-6E8A-4147-A177-3AD203B41FA5}">
                      <a16:colId xmlns:a16="http://schemas.microsoft.com/office/drawing/2014/main" val="4139675527"/>
                    </a:ext>
                  </a:extLst>
                </a:gridCol>
              </a:tblGrid>
              <a:tr h="149047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6867124"/>
                  </a:ext>
                </a:extLst>
              </a:tr>
              <a:tr h="149047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2464538"/>
                  </a:ext>
                </a:extLst>
              </a:tr>
              <a:tr h="149047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1416069"/>
                  </a:ext>
                </a:extLst>
              </a:tr>
              <a:tr h="1490473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4362930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A034C57A-0BED-7BB8-36BC-7AF7FD48DA05}"/>
              </a:ext>
            </a:extLst>
          </p:cNvPr>
          <p:cNvSpPr txBox="1"/>
          <p:nvPr/>
        </p:nvSpPr>
        <p:spPr>
          <a:xfrm>
            <a:off x="6617374" y="671883"/>
            <a:ext cx="5149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Biometrics — Remote biometric identification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41C9AD3-09AE-B036-B434-FE4245DB5536}"/>
              </a:ext>
            </a:extLst>
          </p:cNvPr>
          <p:cNvSpPr txBox="1"/>
          <p:nvPr/>
        </p:nvSpPr>
        <p:spPr>
          <a:xfrm>
            <a:off x="6564885" y="2185017"/>
            <a:ext cx="5149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Employment — Candidate screening &amp; performance monitoring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47C92DB-AACA-F7FE-C1C2-82802CC1A1E2}"/>
              </a:ext>
            </a:extLst>
          </p:cNvPr>
          <p:cNvSpPr txBox="1"/>
          <p:nvPr/>
        </p:nvSpPr>
        <p:spPr>
          <a:xfrm>
            <a:off x="6551681" y="3712642"/>
            <a:ext cx="5149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Education — Admission and outcome evaluation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E3FC76-B358-5830-3CD4-EC9233373541}"/>
              </a:ext>
            </a:extLst>
          </p:cNvPr>
          <p:cNvSpPr txBox="1"/>
          <p:nvPr/>
        </p:nvSpPr>
        <p:spPr>
          <a:xfrm>
            <a:off x="6600219" y="5173732"/>
            <a:ext cx="51498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accent5">
                    <a:lumMod val="50000"/>
                  </a:schemeClr>
                </a:solidFill>
              </a:rPr>
              <a:t>Critical infrastructure — Traffic and utilities management</a:t>
            </a:r>
          </a:p>
        </p:txBody>
      </p:sp>
    </p:spTree>
    <p:extLst>
      <p:ext uri="{BB962C8B-B14F-4D97-AF65-F5344CB8AC3E}">
        <p14:creationId xmlns:p14="http://schemas.microsoft.com/office/powerpoint/2010/main" val="7170555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907E470A-25F4-47D0-8FEC-EE9FD606BB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6220E63-99E1-482A-A0A6-B47EB4BF87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848" y="0"/>
            <a:ext cx="12188949" cy="6858000"/>
            <a:chOff x="-2848" y="0"/>
            <a:chExt cx="12188949" cy="6858000"/>
          </a:xfrm>
        </p:grpSpPr>
        <p:sp>
          <p:nvSpPr>
            <p:cNvPr id="11" name="Color Cover">
              <a:extLst>
                <a:ext uri="{FF2B5EF4-FFF2-40B4-BE49-F238E27FC236}">
                  <a16:creationId xmlns:a16="http://schemas.microsoft.com/office/drawing/2014/main" id="{F8610896-EA5E-4BE8-8398-C1AFC0490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8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Color Cover">
              <a:extLst>
                <a:ext uri="{FF2B5EF4-FFF2-40B4-BE49-F238E27FC236}">
                  <a16:creationId xmlns:a16="http://schemas.microsoft.com/office/drawing/2014/main" id="{F44E9794-9C4B-427F-BB50-89D893347D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618EE54-271A-4FE8-B6B3-D0FCF55A7A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51279" y="598259"/>
            <a:ext cx="10889442" cy="5680742"/>
            <a:chOff x="651279" y="598259"/>
            <a:chExt cx="10889442" cy="5680742"/>
          </a:xfrm>
        </p:grpSpPr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ECA6F781-4382-4525-9DA8-9D66605F87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Color">
              <a:extLst>
                <a:ext uri="{FF2B5EF4-FFF2-40B4-BE49-F238E27FC236}">
                  <a16:creationId xmlns:a16="http://schemas.microsoft.com/office/drawing/2014/main" id="{209C186B-2883-498E-A176-6B60F8B51BF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" y="0"/>
            <a:ext cx="12188952" cy="6858000"/>
            <a:chOff x="0" y="0"/>
            <a:chExt cx="12188952" cy="6858000"/>
          </a:xfrm>
        </p:grpSpPr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3" name="textbox-4">
            <a:extLst>
              <a:ext uri="{FF2B5EF4-FFF2-40B4-BE49-F238E27FC236}">
                <a16:creationId xmlns:a16="http://schemas.microsoft.com/office/drawing/2014/main" id="{2EA3A5F3-E3B2-3CFC-6773-8FBCBC2288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7012" y="2356555"/>
            <a:ext cx="9897975" cy="678859"/>
          </a:xfrm>
        </p:spPr>
        <p:txBody>
          <a:bodyPr anchor="ctr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Map your AI portfolio to risk tiers and Annex categories</a:t>
            </a:r>
          </a:p>
        </p:txBody>
      </p:sp>
      <p:sp>
        <p:nvSpPr>
          <p:cNvPr id="2" name="subtitle-3">
            <a:extLst>
              <a:ext uri="{FF2B5EF4-FFF2-40B4-BE49-F238E27FC236}">
                <a16:creationId xmlns:a16="http://schemas.microsoft.com/office/drawing/2014/main" id="{57CBDC62-2F0A-6706-0DF0-AA24CDDF6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984" y="891713"/>
            <a:ext cx="5203175" cy="1174832"/>
          </a:xfrm>
        </p:spPr>
        <p:txBody>
          <a:bodyPr anchor="ctr">
            <a:normAutofit/>
          </a:bodyPr>
          <a:lstStyle/>
          <a:p>
            <a:r>
              <a:rPr lang="en-US" sz="4800" u="sng" dirty="0">
                <a:solidFill>
                  <a:schemeClr val="bg1"/>
                </a:solidFill>
              </a:rPr>
              <a:t>Key Takeaways</a:t>
            </a:r>
          </a:p>
        </p:txBody>
      </p:sp>
      <p:sp>
        <p:nvSpPr>
          <p:cNvPr id="4" name="textbox-4">
            <a:extLst>
              <a:ext uri="{FF2B5EF4-FFF2-40B4-BE49-F238E27FC236}">
                <a16:creationId xmlns:a16="http://schemas.microsoft.com/office/drawing/2014/main" id="{BEB8DCBA-5861-7603-7767-01511DFC4E3A}"/>
              </a:ext>
            </a:extLst>
          </p:cNvPr>
          <p:cNvSpPr txBox="1">
            <a:spLocks/>
          </p:cNvSpPr>
          <p:nvPr/>
        </p:nvSpPr>
        <p:spPr>
          <a:xfrm>
            <a:off x="1147012" y="3789067"/>
            <a:ext cx="9897975" cy="678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Prepare for GPAI transparency and potential systemic‑risk duties</a:t>
            </a:r>
          </a:p>
        </p:txBody>
      </p:sp>
      <p:sp>
        <p:nvSpPr>
          <p:cNvPr id="9" name="textbox-4">
            <a:extLst>
              <a:ext uri="{FF2B5EF4-FFF2-40B4-BE49-F238E27FC236}">
                <a16:creationId xmlns:a16="http://schemas.microsoft.com/office/drawing/2014/main" id="{32325CF6-376C-F992-8A19-053D8E52DC49}"/>
              </a:ext>
            </a:extLst>
          </p:cNvPr>
          <p:cNvSpPr txBox="1">
            <a:spLocks/>
          </p:cNvSpPr>
          <p:nvPr/>
        </p:nvSpPr>
        <p:spPr>
          <a:xfrm>
            <a:off x="1147012" y="3072811"/>
            <a:ext cx="9897975" cy="6788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800" dirty="0">
                <a:solidFill>
                  <a:schemeClr val="bg1"/>
                </a:solidFill>
              </a:rPr>
              <a:t>Establish quality, oversight, and documentation workflows</a:t>
            </a:r>
          </a:p>
        </p:txBody>
      </p:sp>
    </p:spTree>
    <p:extLst>
      <p:ext uri="{BB962C8B-B14F-4D97-AF65-F5344CB8AC3E}">
        <p14:creationId xmlns:p14="http://schemas.microsoft.com/office/powerpoint/2010/main" val="28818331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D8C7DB36D081842B01F43F9FAB7CB98" ma:contentTypeVersion="4" ma:contentTypeDescription="Create a new document." ma:contentTypeScope="" ma:versionID="88f64ab1e1ca1106c8982f231e9b9891">
  <xsd:schema xmlns:xsd="http://www.w3.org/2001/XMLSchema" xmlns:xs="http://www.w3.org/2001/XMLSchema" xmlns:p="http://schemas.microsoft.com/office/2006/metadata/properties" xmlns:ns3="b3112609-9adb-4c0d-bd23-6b440c6d47da" targetNamespace="http://schemas.microsoft.com/office/2006/metadata/properties" ma:root="true" ma:fieldsID="930eea20779fa06bbb92c35e6ec4e2f7" ns3:_="">
    <xsd:import namespace="b3112609-9adb-4c0d-bd23-6b440c6d47d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3112609-9adb-4c0d-bd23-6b440c6d47d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E16713F-C98C-4B44-AA14-9F932E005482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CE3402-764B-4BA5-A591-6AE93A3A404B}">
  <ds:schemaRefs>
    <ds:schemaRef ds:uri="http://purl.org/dc/dcmitype/"/>
    <ds:schemaRef ds:uri="http://schemas.microsoft.com/office/2006/documentManagement/types"/>
    <ds:schemaRef ds:uri="b3112609-9adb-4c0d-bd23-6b440c6d47da"/>
    <ds:schemaRef ds:uri="http://purl.org/dc/terms/"/>
    <ds:schemaRef ds:uri="http://www.w3.org/XML/1998/namespace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9ABBD998-49AA-4262-9538-2FC511124B5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b3112609-9adb-4c0d-bd23-6b440c6d47d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e760c494-6550-44b4-8258-77c175d778b7}" enabled="1" method="Privileged" siteId="{76a2ae5a-9f00-4f6b-95ed-5d33d77c4d6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257</TotalTime>
  <Words>66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Aptos</vt:lpstr>
      <vt:lpstr>Aptos Display</vt:lpstr>
      <vt:lpstr>Arial</vt:lpstr>
      <vt:lpstr>Eras Bold ITC</vt:lpstr>
      <vt:lpstr>Office Theme</vt:lpstr>
      <vt:lpstr>{{Title}}</vt:lpstr>
      <vt:lpstr>{{Bullets1_2}}</vt:lpstr>
      <vt:lpstr>{{Subtitle2}}</vt:lpstr>
      <vt:lpstr>{{Subtitle3}}</vt:lpstr>
    </vt:vector>
  </TitlesOfParts>
  <Company>Capgemini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Yang, Vicki</dc:creator>
  <cp:lastModifiedBy>Yang, Vicki</cp:lastModifiedBy>
  <cp:revision>10</cp:revision>
  <dcterms:created xsi:type="dcterms:W3CDTF">2026-02-10T15:53:01Z</dcterms:created>
  <dcterms:modified xsi:type="dcterms:W3CDTF">2026-02-10T21:47:08Z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0x0101002D8C7DB36D081842B01F43F9FAB7CB98</vt:lpwstr>
  </property>
</Properties>
</file>